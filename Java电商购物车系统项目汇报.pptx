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大家好，今天我将为大家介绍一个基于Java面向对象设计的简易电商购物车系统。这个项目实现了从商品管理到订单处理的完整购物流程，接下来我将详细展示其功能、技术实现和遇到的挑战。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让我们了解一下这个项目。它是一个用Java语言编写的简易电商购物车系统。我们的目标是构建一个功能闭环，涵盖了从管理员上架商品，到用户浏览、加入购物车，再到最终生成订单并完成交易的全过程。项目重点在于运用面向对象的思想，合理设计类与类之间的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系统的核心业务流程如这张图所示，它始于商品上架，终于用户收货。这个流程环环相扣，确保了数据的一致性和业务的完整性。每个环节都对应着系统中的一个或多个功能模块，接下来我将详细介绍这些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接下来我们看功能模块。首先是管理员功能。管理员可以执行商品上架、下架和浏览操作。这三个核心功能构成了后台商品管理的基础，保证了前端展示商品的多样性和准确性。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用户功能则更加丰富，覆盖了完整的购物体验。从浏览商品开始，到加入购物车，再到管理购物车、生成订单，最后到订单的后续处理，每一步都为用户提供了清晰的操作路径和反馈。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实现方面，我们使用了标准的Java开发环境。数据结构上，选用HashMap和ArrayList来满足不同场景的需求。更重要的是，我们引入了工厂模式和接口编程，这体现了良好的设计思想，为后续的功能扩展打下了坚实基础。同时，我们也注重异常处理，确保系统的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这是我们系统的UML类图。它直观地展示了从商品接口IProduct，到具体的商品类Product，再到购物车、订单等核心类之间的关联。通过这张图，我们可以清晰地看到整个系统的骨架和设计思路。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IProduct接口定义了商品的标准，Product类实现了它。ProductFactory负责创建商品对象。ProductHouse、ShoppingCart和OrderList分别作为商品、购物车和订单的管理者。枚举类OrderStatus和PaymentMethod则优雅地管理了状态和支付方式。Main类是整个程序的入口点。通过这种清晰的类职责划分，系统结构清晰、易于维护和扩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接下来，我将挑选五个核心的代码亮点进行详细讲解，这些亮点体现了我们在设计和编码过程中的一些思考和实践。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亮点是工厂模式与接口编程的结合。我们通过ProductFactory来创建Product实例，并通过IProduct接口来引用这些实例。这样做的好处是，如果未来需要增加新的商品类型，比如打折商品或者虚拟商品，我们只需要创建新的实现类，并修改工厂类即可，而不需要改动使用这些商品的代码，大大提高了系统的可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亮点是权限分离的菜单系统。我们通过一个简单的布尔变量来区分管理员和普通用户。当用户执行完某个操作后，系统会根据这个标志位，自动引导用户返回对应的菜单。这种设计使得权限控制非常直观，代码也易于维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亮点在购物车功能中。当用户添加商品时，系统会先检查购物车中是否已存在该商品。如果存在，且库存充足，就会合并数量，而不是新增一项。这个逻辑既优化了用户体验，也保证了库存数据的准确性，是电商系统中非常关键的一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亮点是使用枚举来管理订单状态和支付方式。相比于使用整数或字符串，枚举提供了更好的类型安全性和代码可读性。我们可以清晰地看到所有可能的状态和支付方式，并且在代码中引用时也不容易出错。这是一种非常优雅的编程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最后一个亮点是防御式编程的应用。我们在很多地方都进行了严格的空值检查，比如在添加商品时，确保所有关键字段都不为空或0，以此保证数据的有效性。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另外，我们还推广了一个非常实用的小技巧：在做字符串比较时，把常量写在 equals 方法的前面。例如代码示例中的“yes”.equalsIgnoreCase(...)，这样即便右边的变量是 null，程序也不会抛出空指针异常，而是会正常返回 false。这些看似微小的细节，实际上极大地提升了系统的整体健壮性。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在开发过程中，我们也遇到了一些典型的问题。接下来，我将分享几个印象深刻的问题及其解决方案。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例如，我们遇到了Scanner输入的经典问题，通过消耗回车符解决了。在计算总价时出现了逻辑错误，通过仔细检查找到了重复累加的问题。对于迭代器修改集合的问题，我们采用了标准的Iterator解决方案。此外，我们还处理了递归栈溢出的风险和无处不在的空指针问题。这些经历让我们对Java编程有了更深刻的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对整个项目进行一个总结。我们的优点在于分层清晰，运用了设计模式，状态管理得当，并且考虑了异常处理。但同时，项目也存在一些明显的不足，比如硬编码、代码重复、缺乏数据持久化以及线程不安全等问题。这些都是我们未来需要改进的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不足，我们规划了几个改进方向。架构上，可以引入菜单管理、会话管理等模块。代码质量方面，需要用枚举代替常量，并消除重复代码。用户体验上，可以增加彩色输出和分页功能。功能扩展方面，未来可以加入用户登录、折扣系统，甚至开发GUI界面和连接数据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6.svg"/><Relationship Id="rId14" Type="http://schemas.openxmlformats.org/officeDocument/2006/relationships/image" Target="../media/image15.png"/><Relationship Id="rId13" Type="http://schemas.openxmlformats.org/officeDocument/2006/relationships/image" Target="../media/image14.svg"/><Relationship Id="rId12" Type="http://schemas.openxmlformats.org/officeDocument/2006/relationships/image" Target="../media/image13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svg"/><Relationship Id="rId7" Type="http://schemas.openxmlformats.org/officeDocument/2006/relationships/image" Target="../media/image23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22.jpe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30.svg"/><Relationship Id="rId13" Type="http://schemas.openxmlformats.org/officeDocument/2006/relationships/image" Target="../media/image29.png"/><Relationship Id="rId12" Type="http://schemas.openxmlformats.org/officeDocument/2006/relationships/image" Target="../media/image28.svg"/><Relationship Id="rId11" Type="http://schemas.openxmlformats.org/officeDocument/2006/relationships/image" Target="../media/image27.png"/><Relationship Id="rId10" Type="http://schemas.openxmlformats.org/officeDocument/2006/relationships/image" Target="../media/image26.sv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image" Target="../media/image39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image" Target="../media/image39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image" Target="../media/image3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5.svg"/><Relationship Id="rId8" Type="http://schemas.openxmlformats.org/officeDocument/2006/relationships/image" Target="../media/image64.png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59.svg"/><Relationship Id="rId2" Type="http://schemas.openxmlformats.org/officeDocument/2006/relationships/image" Target="../media/image58.png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66.jpe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Java电商购物车系统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项目概述与功能展示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533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汤登辉、李旭阳</a:t>
            </a:r>
            <a:r>
              <a:rPr 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|   2026年4月30</a:t>
            </a:r>
            <a:r>
              <a:rPr lang="zh-CN" altLang="en-US" sz="20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2000" b="0" i="0" u="none" strike="noStrike">
              <a:solidFill>
                <a:srgbClr val="E5E7EB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项目简介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▍项目概述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6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一个具有完整购物流程的简易电商购物车系统，采用 Java 面向对象设计，旨在模拟真实的电商平台核心功能，实现从商品上架到最终订单支付的全链路闭环。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330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商品管理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06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作为系统基础模块，支持管理员对商品进行上架、下架操作，并提供商品名称、价格、库存等关键信息的维护与管理功能。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3048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302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334000" y="330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购物车操作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06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面向用户端的核心交互功能，支持用户将心仪商品添加至购物车，同时提供删除商品、修改购买数量等灵活操作。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3048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3302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017000" y="33020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订单处理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4064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串联交易全流程，实现从购物车结算、生成订单、模拟支付到最终确认收货的完整闭环管理，保障交易逻辑严谨性。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1500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651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项目价值：这不仅是一个功能完整的应用，更是对 Java 面向对象编程、设计模式和异常处理等核心知识的综合实践。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项目简介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165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核心业务流程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本系统的核心业务流程覆盖了商品全生命周期，从商家上架到用户收货，形成闭环，保障交易高效流转。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429000"/>
            <a:ext cx="241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36195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361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商品上架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06500" y="412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管理员在后台录入商品详细信息与价格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3429000"/>
            <a:ext cx="241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36195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254500" y="361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商品浏览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873500" y="412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用户浏览、搜索感兴趣的商品，查看详情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3429000"/>
            <a:ext cx="241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36195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61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加入购物车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40500" y="412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将心仪商品一键添加至购物车，暂存选购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017000" y="3429000"/>
            <a:ext cx="2413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36195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88500" y="3619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生成订单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07500" y="41275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确认购物车商品信息，生成待支付订单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080000"/>
            <a:ext cx="317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5270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714500" y="5270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支付环节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270000" y="5778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用户选择支付方式，完成订单付款操作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508500" y="5080000"/>
            <a:ext cx="317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62500" y="52705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5207000" y="5270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订单发货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762500" y="5778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管理员确认收款，安排物流发货并通知用户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01000" y="5080000"/>
            <a:ext cx="3175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55000" y="5270500"/>
            <a:ext cx="304800" cy="3048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699500" y="5270500"/>
            <a:ext cx="228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确认收货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55000" y="5778500"/>
            <a:ext cx="266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用户收到实物商品，确认无误后完成交易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功能模块详解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16666" b="16666"/>
          <a:stretch>
            <a:fillRect/>
          </a:stretch>
        </p:blipFill>
        <p:spPr>
          <a:xfrm>
            <a:off x="1079500" y="2032000"/>
            <a:ext cx="2667000" cy="1778000"/>
          </a:xfrm>
          <a:prstGeom prst="roundRect">
            <a:avLst>
              <a:gd name="adj" fmla="val 5714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952500" y="4064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管理员功能</a:t>
            </a:r>
            <a:endParaRPr lang="en-US" sz="1100"/>
          </a:p>
          <a:p>
            <a:pPr indent="0" algn="ctr">
              <a:lnSpc>
                <a:spcPct val="117000"/>
              </a:lnSpc>
              <a:spcBef>
                <a:spcPts val="12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管理员作为系统的后台维护者，拥有对商品库的完全控制权。这些功能确保了商品信息的准确性和时效性，是整个电商平台正常运转的基石。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2286000" cy="4572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29200" y="2159000"/>
            <a:ext cx="863600" cy="863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445000" y="3302000"/>
            <a:ext cx="203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商品上架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添加新商品到商品库，支持录入商品ID、名称、价格、库存、分类等详细信息，构建完整的商品档案。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58000" y="1651000"/>
            <a:ext cx="2286000" cy="4572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9200" y="2159000"/>
            <a:ext cx="863600" cy="863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3302000"/>
            <a:ext cx="203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商品下架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根据商品ID将商品从商品库中移除，使其立即对用户不可见，从而灵活管理商品的生命周期与在售状态。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9398000" y="1651000"/>
            <a:ext cx="2286000" cy="4572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09200" y="2159000"/>
            <a:ext cx="863600" cy="863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525000" y="3302000"/>
            <a:ext cx="2032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商品浏览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6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查看平台内所有商品列表，支持按名称进行模糊查询，或按类别快速筛选，大幅提升后台的管理效率。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功能模块详解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2000" y="1270000"/>
            <a:ext cx="457200" cy="457200"/>
          </a:xfrm>
          <a:prstGeom prst="roundRect">
            <a:avLst>
              <a:gd name="adj" fmla="val 50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97000" y="1219200"/>
            <a:ext cx="1003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用户功能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用户是系统的主要使用者，功能模块围绕流畅、完整的购物体验闭环展开，覆盖全链路操作。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76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413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商品浏览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支持查看所有商品，支持按名称关键词模糊查询，以及按商品类别快速筛选，帮助用户高效找到心仪商品。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159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2476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61000" y="2413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加入购物车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一键将商品添加至购物车，支持手动设置购买数量，并实时校验库存状态，防止超卖情况发生。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2159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2476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144000" y="2413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购物车管理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对购物车内商品进行灵活操作：支持浏览、删除单个商品、修改购买数量或一键清空购物车。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445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78000" y="4699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订单生成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确认购物车商品后，点击结算即可生成待支付订单，系统自动计算商品总价。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445000" y="4445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99000" y="4762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5461000" y="4699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订单管理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全生命周期管理：支持在线支付订单、查看物流、确认收货，以及取消订单。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128000" y="4445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82000" y="4762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144000" y="4699000"/>
            <a:ext cx="203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订单查询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提供精准的查询能力：支持输入订单号进行精准搜索，也支持按订单状态（已支付/已发货等）进行快速筛选。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技术实现与UML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8333" b="8333"/>
          <a:stretch>
            <a:fillRect/>
          </a:stretch>
        </p:blipFill>
        <p:spPr>
          <a:xfrm>
            <a:off x="1016000" y="2032000"/>
            <a:ext cx="2794000" cy="149352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3683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spcAft>
                <a:spcPts val="1200"/>
              </a:spcAft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技术栈概览</a:t>
            </a:r>
            <a:endParaRPr lang="en-US" sz="1100"/>
          </a:p>
          <a:p>
            <a:pPr indent="0" algn="just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本项目采用纯 Java 技术栈，不依赖任何复杂框架，通过结合经典的数据结构与设计模式，实现了一个轻量级、逻辑完整且可维护性高的模拟电商系统。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4318000" y="1651000"/>
            <a:ext cx="711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43100"/>
            <a:ext cx="685800" cy="685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588000" y="1803400"/>
            <a:ext cx="5588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核心数据结构选型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HashMap：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基于哈希表实现，提供O(1)级的查询性能，用于构建和维护核心商品库，实现商品信息的快速检索。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ArrayList：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基于动态数组实现，支持索引快速访问，用于高效管理购物车条目与订单列表。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3302000"/>
            <a:ext cx="711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3594100"/>
            <a:ext cx="685800" cy="685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588000" y="3454400"/>
            <a:ext cx="5588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设计模式与架构思想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工厂模式 (ProductFactory)：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封装对象创建逻辑，将“对象创建”与“业务逻辑”解耦，提升代码灵活性。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接口编程 (IProduct)：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定义统一的商品行为规范，规范了不同商品类型的行为，极大地提升了系统扩展性。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0" y="4953000"/>
            <a:ext cx="7112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72000" y="5245100"/>
            <a:ext cx="685800" cy="685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5105400"/>
            <a:ext cx="5588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spcAft>
                <a:spcPts val="600"/>
              </a:spcAft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系统异常安全防护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建立了全面的异常捕获与容错机制，增强系统健壮性：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捕获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StackOverflowError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等运行时错误，防止程序意外崩溃。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校验并处理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IllegalArgumentException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等非法参数，确保数据有效性。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5334000" cy="508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65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技术实现与UML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67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 类图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37415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系统核心类结构通过 UML 类图清晰展示模块间关系与职责，直观呈现实体、接口与控制类交互逻辑，统一技术语言，降低复杂度。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46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技术架构可视化 | 核心业务逻辑映射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1143000"/>
            <a:ext cx="5080000" cy="4826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604000" y="1270000"/>
            <a:ext cx="4826000" cy="457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技术实现与UML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类图说明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每个类和接口都有其明确的职责，共同构成了系统的核心逻辑，各司其职以保障系统稳定运行。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IProduct (接口)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商品接口，定义所有商品的基本属性与操作标准。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1275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412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254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 / ProductFactory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商品实体实现类；工厂类，负责封装并创建各类商品实例。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54610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588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ProductHouse (商品库)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HashMap 存储并统一管理系统内所有的商品数据。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445000" y="27940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445000" y="279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699000" y="292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CartItem (购物车项)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代表购物车内的具体条目，包含关联的商品对象与购买数量。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445000" y="41275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4445000" y="412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699000" y="4254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ShoppingCart (购物车)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管理购物车项列表，提供添加、删除、计算总价等核心功能。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445000" y="54610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445000" y="546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699000" y="5588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Order (订单类)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封装订单号、订单项列表、下单时间、总金额及当前状态。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128000" y="27940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128000" y="279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82000" y="2921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OrderList (订单列表)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系统订单的全局管理者，负责保存、查询及维护所有用户订单。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128000" y="41275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128000" y="412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82000" y="4254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OrderStatus / PaymentMethod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枚举类型，分别规范订单全生命周期状态及支持的支付方式。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128000" y="5461000"/>
            <a:ext cx="3302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128000" y="546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8382000" y="5588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 (主程序入口)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负责系统启动，构建并处理用户与控制台的菜单交互逻辑。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核心代码亮点讲解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191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KEY CODE HIGHLIGHTS &amp; PRACTICES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508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精选 5 个关键技术模块 · 深度解析架构设计与编码思考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亮点1：工厂模式 + 接口编程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01800" y="21336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核心设计与实现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0480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</a:t>
            </a:r>
            <a:r>
              <a:rPr lang="en-US" sz="15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ProductFactory</a:t>
            </a: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工厂类封装对象的创建逻辑，同时定义标准化的</a:t>
            </a: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IProduct</a:t>
            </a:r>
            <a:r>
              <a:rPr lang="en-US" sz="15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接口规范业务行为，实现了数据层与业务逻辑层的解耦。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4572000"/>
            <a:ext cx="4445000" cy="1270000"/>
          </a:xfrm>
          <a:prstGeom prst="roundRect">
            <a:avLst>
              <a:gd name="adj" fmla="val 800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333500" y="4762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核心优势：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完美遵循“开闭原则”，当新增虚拟商品、折扣商品等类型时，仅需增加接口实现类，无需修改上层调用代码，极大降低了系统维护成本并提升了扩展性。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2286000"/>
            <a:ext cx="4699000" cy="3556000"/>
          </a:xfrm>
          <a:prstGeom prst="rect">
            <a:avLst/>
          </a:prstGeom>
          <a:solidFill>
            <a:srgbClr val="111827">
              <a:alpha val="6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000" b="0" i="0" u="none" strike="noStrike">
                <a:solidFill>
                  <a:srgbClr val="8B5CF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ProductFactory.java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class</a:t>
            </a:r>
            <a:r>
              <a:rPr lang="en-US" sz="1000" b="0" i="0" u="none" strike="noStrike">
                <a:solidFill>
                  <a:srgbClr val="34D3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ProductFactory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static</a:t>
            </a:r>
            <a:r>
              <a:rPr lang="en-US" sz="1000" b="0" i="0" u="none" strike="noStrike">
                <a:solidFill>
                  <a:srgbClr val="34D3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Product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createProduct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(String id, String name,</a:t>
            </a: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double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price,</a:t>
            </a: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stock, String category) {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new</a:t>
            </a:r>
            <a:r>
              <a:rPr lang="en-US" sz="1000" b="0" i="0" u="none" strike="noStrike">
                <a:solidFill>
                  <a:srgbClr val="34D3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Product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(id, name, price, stock, category);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8B5CF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IProduct接口定义</a:t>
            </a:r>
            <a:endParaRPr lang="en-US" sz="1000" b="0" i="0" u="none" strike="noStrike">
              <a:solidFill>
                <a:srgbClr val="8B5CF6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interface</a:t>
            </a:r>
            <a:r>
              <a:rPr lang="en-US" sz="1000" b="0" i="0" u="none" strike="noStrike">
                <a:solidFill>
                  <a:srgbClr val="34D39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IProduct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getId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getName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double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getPrice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getStock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String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getCategory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setStock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stock);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setCategory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(String category);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setName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(String name);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setPrice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double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price);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38BDF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10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setId</a:t>
            </a: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(String id);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D1D5D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000" b="0" i="0" u="none" strike="noStrike">
              <a:solidFill>
                <a:srgbClr val="D1D5D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亮点2：多层菜单导航与权限分离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336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核心机制：单标志位切换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048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管理员与普通用户拥有完全独立的菜单系统，系统内部仅通过一个布尔变量</a:t>
            </a:r>
            <a:r>
              <a:rPr lang="en-US" sz="14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`usAndma`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来标记当前用户身份。在执行完功能逻辑后，系统会根据该标志位自动返回对应的导航菜单，无需复杂的跳转逻辑。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572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4546600"/>
            <a:ext cx="393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1F5F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设计优势：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逻辑极简：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无需复杂的路由表，单变量控制全流程导航。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边界清晰：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角色权限物理隔离，有效防止权限越界访问。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3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体验流畅：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根据角色自动适配界面，减少无效信息干扰。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6096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19558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781800" y="1955800"/>
            <a:ext cx="152400" cy="1524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086600" y="1955800"/>
            <a:ext cx="152400" cy="1524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747000" y="19304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Main.java - 核心逻辑实现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667000"/>
            <a:ext cx="4699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1. 全局角色权限标志位定义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static</a:t>
            </a:r>
            <a:r>
              <a:rPr lang="en-US" sz="1300" b="0" i="0" u="none" strike="noStrike">
                <a:solidFill>
                  <a:srgbClr val="93C5F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boolean</a:t>
            </a:r>
            <a:r>
              <a:rPr lang="en-US" sz="1300" b="1" i="0" u="none" strike="noStrike">
                <a:solidFill>
                  <a:srgbClr val="F8717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usAndma</a:t>
            </a: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=</a:t>
            </a:r>
            <a:r>
              <a:rPr lang="en-US" sz="1300" b="0" i="0" u="none" strike="noStrike">
                <a:solidFill>
                  <a:srgbClr val="FBBF2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false</a:t>
            </a: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r>
              <a:rPr lang="en-US" sz="1200" b="0" i="0" u="none" strike="noStrike">
                <a:solidFill>
                  <a:srgbClr val="6B72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true=管理员 / false=普通用户</a:t>
            </a:r>
            <a:endParaRPr lang="en-US" sz="1200" b="0" i="0" u="none" strike="noStrike">
              <a:solidFill>
                <a:srgbClr val="6B728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public static void</a:t>
            </a:r>
            <a:r>
              <a:rPr lang="en-US" sz="1300" b="0" i="0" u="none" strike="noStrike">
                <a:solidFill>
                  <a:srgbClr val="60A5F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productsBrowse</a:t>
            </a: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... 商品浏览核心业务逻辑 ...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</a:t>
            </a:r>
            <a:r>
              <a:rPr lang="en-US" sz="1300" b="0" i="0" u="none" strike="noStrike">
                <a:solidFill>
                  <a:srgbClr val="F8717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usAndma</a:t>
            </a: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) {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managerMenu();</a:t>
            </a:r>
            <a:r>
              <a:rPr lang="en-US" sz="1200" b="0" i="0" u="none" strike="noStrike">
                <a:solidFill>
                  <a:srgbClr val="6B72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自动返回管理员专属菜单</a:t>
            </a:r>
            <a:endParaRPr lang="en-US" sz="1200" b="0" i="0" u="none" strike="noStrike">
              <a:solidFill>
                <a:srgbClr val="6B728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r>
              <a:rPr lang="en-US" sz="1300" b="0" i="0" u="none" strike="noStrike">
                <a:solidFill>
                  <a:srgbClr val="C084FC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else</a:t>
            </a: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{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userMenu();</a:t>
            </a:r>
            <a:r>
              <a:rPr lang="en-US" sz="1200" b="0" i="0" u="none" strike="noStrike">
                <a:solidFill>
                  <a:srgbClr val="6B728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自动返回普通用户菜单</a:t>
            </a:r>
            <a:endParaRPr lang="en-US" sz="1200" b="0" i="0" u="none" strike="noStrike">
              <a:solidFill>
                <a:srgbClr val="6B728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300" b="0" i="0" u="none" strike="noStrike">
              <a:solidFill>
                <a:srgbClr val="E5E7EB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亮点3：购物车库存校验与合并逻辑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74800" y="21336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核心业务逻辑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921000"/>
            <a:ext cx="4597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ShoppingCart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</a:t>
            </a:r>
            <a:r>
              <a:rPr lang="en-US" sz="1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addProducts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方法中，加入购物车时会自动执行双重检查：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检查购物车中是否已存在同款商品，若有则自动合并数量。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实时校验商品库存，确保合并后的总数不超过可用库存。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66800" y="4445000"/>
            <a:ext cx="4597400" cy="1397000"/>
          </a:xfrm>
          <a:prstGeom prst="roundRect">
            <a:avLst>
              <a:gd name="adj" fmla="val 7272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19200" y="4635500"/>
            <a:ext cx="42926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关键价值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避免重复条目，优化购物车展示体验；通过严谨的库存拦截逻辑，从源头防止超卖，保障数据一致性与业务稳定性。</a:t>
            </a:r>
            <a:endParaRPr lang="en-US" sz="13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111827">
              <a:alpha val="95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778000"/>
            <a:ext cx="5207000" cy="6096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9304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858000" y="1905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ShoppingCart.java · addProducts() 核心片段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667000"/>
            <a:ext cx="4699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1. 遍历购物车，检查商品是否已存在并校验库存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(CartItem i : items) {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(i.getProduct().getId().equals(item.getProduct().getId())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&amp;&amp; (i.getQuantity() + item.getQuantity()) &lt;=</a:t>
            </a:r>
            <a:r>
              <a:rPr lang="en-US" sz="1200" b="0" i="0" u="none" strike="noStrike">
                <a:solidFill>
                  <a:srgbClr val="E5C07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getStock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()) {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61AFEF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modifyQuantity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(i, i.getQuantity() + item.getQuantity());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C678DD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</a:t>
            </a: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;}</a:t>
            </a: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2. 执行合并并退出循环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64748B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... 若未找到，则执行新增商品逻辑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亮点4：枚举实现订单状态与支付方式管理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475569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2032000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核心价值与优势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66800" y="2921000"/>
            <a:ext cx="4597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在订单系统开发中，摒弃传统的“魔法数字”或松散的字符串常量，转而使用</a:t>
            </a:r>
            <a:r>
              <a:rPr lang="en-US" sz="15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Java 枚举 (Enum)</a:t>
            </a:r>
            <a:r>
              <a:rPr lang="en-US" sz="15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将状态码与支付方式集中管理，构建清晰、健壮的状态流转体系。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4191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4165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类型安全保障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杜绝因传参错误（如数字、字符串拼写）引发的运行时异常，编译期即可拦截错误。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5207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87500" y="51816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高可读性与扩展性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将所有状态定义集中一处，便于维护与查阅；添加新状态或支付方式时，改动范围可控且清晰。</a:t>
            </a:r>
            <a:endParaRPr lang="en-US" sz="1300" b="0" i="0" u="none" strike="noStrike">
              <a:solidFill>
                <a:srgbClr val="94A3B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0F172A">
              <a:alpha val="9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5207000" cy="6350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18034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📝 代码示例 (Java Enum)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540000"/>
            <a:ext cx="4699000" cy="330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1. 订单状态枚举 (关联状态码与描述)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08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enum</a:t>
            </a:r>
            <a:r>
              <a:rPr lang="en-US" sz="1200" b="1" i="0" u="none" strike="noStrike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OrderStatus</a:t>
            </a: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lang="en-US" sz="1200" b="0" i="0" u="none" strike="noStrike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A5F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CREATED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(0,</a:t>
            </a:r>
            <a:r>
              <a:rPr lang="en-US" sz="1200" b="0" i="0" u="none" strike="noStrike">
                <a:solidFill>
                  <a:srgbClr val="34D3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"已创建"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), PAID(1,</a:t>
            </a:r>
            <a:r>
              <a:rPr lang="en-US" sz="1200" b="0" i="0" u="none" strike="noStrike">
                <a:solidFill>
                  <a:srgbClr val="34D3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"已支付"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),</a:t>
            </a:r>
            <a:endParaRPr lang="en-US" sz="1200" b="0" i="0" u="none" strike="noStrike">
              <a:solidFill>
                <a:srgbClr val="CBD5E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A5F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SHIPPED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(2,</a:t>
            </a:r>
            <a:r>
              <a:rPr lang="en-US" sz="1200" b="0" i="0" u="none" strike="noStrike">
                <a:solidFill>
                  <a:srgbClr val="34D3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"已发货"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), CANCELLED(-1,</a:t>
            </a:r>
            <a:r>
              <a:rPr lang="en-US" sz="1200" b="0" i="0" u="none" strike="noStrike">
                <a:solidFill>
                  <a:srgbClr val="F8717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"已取消"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 lang="en-US" sz="1200" b="0" i="0" u="none" strike="noStrike">
              <a:solidFill>
                <a:srgbClr val="CBD5E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200" b="0" i="0" u="none" strike="noStrike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200" b="0" i="0" u="none" strike="noStrike">
                <a:solidFill>
                  <a:srgbClr val="64748B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2. 支付方式枚举</a:t>
            </a:r>
            <a:endParaRPr lang="en-US" sz="1200" b="0" i="0" u="none" strike="noStrike">
              <a:solidFill>
                <a:srgbClr val="64748B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084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enum</a:t>
            </a:r>
            <a:r>
              <a:rPr lang="en-US" sz="1200" b="1" i="0" u="none" strike="noStrike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PaymentMethod</a:t>
            </a: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</a:t>
            </a:r>
            <a:endParaRPr lang="en-US" sz="1200" b="0" i="0" u="none" strike="noStrike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marL="25400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60A5F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WECHAT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200" b="0" i="0" u="none" strike="noStrike">
                <a:solidFill>
                  <a:srgbClr val="34D3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"微信支付"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),</a:t>
            </a:r>
            <a:r>
              <a:rPr lang="en-US" sz="1200" b="0" i="0" u="none" strike="noStrike">
                <a:solidFill>
                  <a:srgbClr val="60A5FA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ALIPAY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200" b="0" i="0" u="none" strike="noStrike">
                <a:solidFill>
                  <a:srgbClr val="34D3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"支付宝"</a:t>
            </a:r>
            <a:r>
              <a:rPr lang="en-US" sz="1200" b="0" i="0" u="none" strike="noStrike">
                <a:solidFill>
                  <a:srgbClr val="CBD5E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 lang="en-US" sz="1200" b="0" i="0" u="none" strike="noStrike">
              <a:solidFill>
                <a:srgbClr val="CBD5E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  <a:endParaRPr lang="en-US" sz="1200" b="0" i="0" u="none" strike="noStrike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亮点5：防御式编程与空值检查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在多处关键业务代码中，我们主动引入了严密的空值检查和防御性判断逻辑，构建了坚固的“第一道防线”，旨在彻底杜绝运行时常见的</a:t>
            </a:r>
            <a:r>
              <a:rPr lang="en-US" sz="16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NullPointerException</a:t>
            </a:r>
            <a:r>
              <a:rPr 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等非预期异常。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921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159000" y="2857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显著增强系统健壮性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有效拦截输入异常，大幅降低线上潜在Bug发生率，让程序在复杂场景下也能保持稳定可靠。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ProductHouse.java - addProduct 方法：多维度参数校验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(!products.containsKey(product.getId()) &amp;&amp;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product.getId() != null &amp;&amp; product.getName() != null &amp;&amp;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product.getPrice() != 0 &amp;&amp; product.getStock() != 0 &amp;&amp;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product.getCategory() != null) {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products.put(product.getId(), product);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4705"/>
            </a:avLst>
          </a:prstGeom>
          <a:solidFill>
            <a:srgbClr val="111827">
              <a:alpha val="100000"/>
            </a:srgbClr>
          </a:solidFill>
          <a:ln w="12700" cap="flat" cmpd="sng">
            <a:solidFill>
              <a:srgbClr val="37415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23000" y="4191000"/>
            <a:ext cx="5207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13500" y="4445000"/>
            <a:ext cx="482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Main.java - 编程技巧：常量前置比较法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传统写法(风险)：input.equals("yes") 若input为null则抛NPE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优化写法(安全)：将常量置于比较左侧，避免空指针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("yes".equalsIgnoreCase(scanner.nextLine())) {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System.out.println("执行核心业务逻辑...");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endParaRPr lang="en-US" sz="12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304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遇到的问题与解决方案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445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PROBLEMS &amp; SOLUTIONS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问题与解决方案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在开发过程中，我们遇到了一些典型问题，并逐一解决。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2225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2184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Scanner 输入缓冲区问题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794000"/>
            <a:ext cx="2984500" cy="533400"/>
          </a:xfrm>
          <a:prstGeom prst="roundRect">
            <a:avLst>
              <a:gd name="adj" fmla="val 952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41400" y="28448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`nextInt()` 后接 `nextLine()` 时出现读取异常。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556000"/>
            <a:ext cx="2984500" cy="533400"/>
          </a:xfrm>
          <a:prstGeom prst="roundRect">
            <a:avLst>
              <a:gd name="adj" fmla="val 952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41400" y="36068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`nextInt()` 后额外调用一次 `nextLine()` 以消耗换行符。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06900" y="20320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06900" y="22225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597400" y="2184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总价计算重复累加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97400" y="2794000"/>
            <a:ext cx="2984500" cy="533400"/>
          </a:xfrm>
          <a:prstGeom prst="roundRect">
            <a:avLst>
              <a:gd name="adj" fmla="val 952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4686300" y="28448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订单总价计算结果异常偏大，与实际商品金额不符。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97400" y="3556000"/>
            <a:ext cx="2984500" cy="533400"/>
          </a:xfrm>
          <a:prstGeom prst="roundRect">
            <a:avLst>
              <a:gd name="adj" fmla="val 952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686300" y="36068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修正逻辑错误，避免将“小计金额”再次乘以数量，改为直接累加。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26400" y="2032000"/>
            <a:ext cx="33655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8026400" y="22225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216900" y="21844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迭代遍历时修改集合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216900" y="2794000"/>
            <a:ext cx="2984500" cy="533400"/>
          </a:xfrm>
          <a:prstGeom prst="roundRect">
            <a:avLst>
              <a:gd name="adj" fmla="val 952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305800" y="28448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遍历购物车并生成订单时，因删除元素导致并发修改异常。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16900" y="3556000"/>
            <a:ext cx="2984500" cy="533400"/>
          </a:xfrm>
          <a:prstGeom prst="roundRect">
            <a:avLst>
              <a:gd name="adj" fmla="val 952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305800" y="3606800"/>
            <a:ext cx="279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`Iterator` 迭代器的 `remove()` 方法进行安全删除操作。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905000" y="4445000"/>
            <a:ext cx="4064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1905000" y="46355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2095500" y="45974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递归调用导致栈溢出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095500" y="5143500"/>
            <a:ext cx="3683000" cy="508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2184400" y="5207000"/>
            <a:ext cx="349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多级菜单递归调用过深，引发 `StackOverflowError` 程序崩溃。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2095500" y="5715000"/>
            <a:ext cx="3683000" cy="508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32"/>
          <p:cNvSpPr/>
          <p:nvPr/>
        </p:nvSpPr>
        <p:spPr>
          <a:xfrm>
            <a:off x="2184400" y="5778500"/>
            <a:ext cx="349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添加异常捕获机制防止崩溃，并计划将逻辑重构为非递归循环结构。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445000"/>
            <a:ext cx="4064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223000" y="4635500"/>
            <a:ext cx="50800" cy="304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6413500" y="45974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空指针风险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413500" y="5143500"/>
            <a:ext cx="3683000" cy="508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502400" y="5207000"/>
            <a:ext cx="349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现象：</a:t>
            </a: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在数据异常时，获取商品信息可能出现空值。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413500" y="5715000"/>
            <a:ext cx="3683000" cy="508000"/>
          </a:xfrm>
          <a:prstGeom prst="roundRect">
            <a:avLst>
              <a:gd name="adj" fmla="val 1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39"/>
          <p:cNvSpPr/>
          <p:nvPr/>
        </p:nvSpPr>
        <p:spPr>
          <a:xfrm>
            <a:off x="6502400" y="5778500"/>
            <a:ext cx="349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解决方案：</a:t>
            </a:r>
            <a:r>
              <a:rPr lang="en-US" sz="1100" b="0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在所有关键数据访问和操作之前，增加完善的空值检查逻辑。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项目总结与改进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19558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1930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项目亮点</a:t>
            </a:r>
            <a:r>
              <a:rPr lang="en-US" sz="18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ADVANTAGES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143000" y="27940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分层清晰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商品库、购物车、订单模块职责分离，业务边界清晰，易于维护。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29000" y="26670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27940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设计模式应用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引入工厂模式与接口设计，有效解耦对象创建逻辑，增强扩展性。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3815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143000" y="45085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状态与角色管理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使用枚举类集中管理订单流转状态和用户权限角色，逻辑严谨。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429000" y="43815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556000" y="45085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异常处理机制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针对核心业务流程捕获关键异常，有效增强了系统的健壮性与容错能力。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19558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10400" y="1930400"/>
            <a:ext cx="406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9731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待改进项</a:t>
            </a:r>
            <a:r>
              <a:rPr lang="en-US" sz="18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IMPROVEMENTS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6670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604000" y="27940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配置硬编码严重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菜单选项与常量直接硬编码在代码中，未做配置化，维护成本较高。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890000" y="26670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017000" y="27940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逻辑代码冗余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多处菜单展示与输入处理逻辑重复，可提取公共方法进行复用优化。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43815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04000" y="45085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缺乏数据持久化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当前所有数据仅驻留在内存中，服务重启即丢失，需引入文件或数据库存储。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890000" y="4381500"/>
            <a:ext cx="2286000" cy="1460500"/>
          </a:xfrm>
          <a:prstGeom prst="roundRect">
            <a:avLst>
              <a:gd name="adj" fmla="val 6956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017000" y="4508500"/>
            <a:ext cx="203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多线程安全隐患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全局静态变量未做同步处理，在并发访问场景下可能出现数据不一致问题。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项目总结与改进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6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架构改进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MenuManager: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统一菜单与输入处理，消除冗余代码。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SessionManager: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管理用户登录态，替代静态变量。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基础组件: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增加数据持久化与日志监控模块。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683000" y="1651000"/>
            <a:ext cx="266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35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18000" y="180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代码质量提升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73500" y="241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枚举常量化: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规范用户角色、菜单选项等定义，提升可读性。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策略模式重构: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提取公共业务逻辑，消除重复代码，提升扩展性。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266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381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34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用户体验优化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95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终端美化: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引入ANSI转义码实现控制台彩色输出，界面更清晰。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列表分页: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优化大量商品展示逻辑，支持分页浏览，避免信息过载。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683000" y="4191000"/>
            <a:ext cx="2667000" cy="2349500"/>
          </a:xfrm>
          <a:prstGeom prst="roundRect">
            <a:avLst>
              <a:gd name="adj" fmla="val 432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73500" y="4381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18000" y="4343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功能扩展规划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73500" y="495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业务层: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支持优惠券、满减等营销活动；完善用户注册与登录。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技术层: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引入MySQL存储数据；使用JavaFX开发桌面GUI。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rcRect l="12489" r="12489"/>
          <a:stretch>
            <a:fillRect/>
          </a:stretch>
        </p:blipFill>
        <p:spPr>
          <a:xfrm>
            <a:off x="6731000" y="1778000"/>
            <a:ext cx="4699000" cy="2921000"/>
          </a:xfrm>
          <a:prstGeom prst="roundRect">
            <a:avLst>
              <a:gd name="adj" fmla="val 5217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731000" y="4953000"/>
            <a:ext cx="4699000" cy="1587500"/>
          </a:xfrm>
          <a:prstGeom prst="roundRect">
            <a:avLst>
              <a:gd name="adj" fmla="val 96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921500" y="5143500"/>
            <a:ext cx="431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未来系统架构愿景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从单一的控制台应用向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分层架构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演进，清晰划分前台交互、中台服务与后台支撑，构建高内聚、低耦合的可维护性系统。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5878</Words>
  <Application>WPS 演示</Application>
  <PresentationFormat/>
  <Paragraphs>362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Consolas</vt:lpstr>
      <vt:lpstr>Source Code Pro</vt:lpstr>
      <vt:lpstr>Segoe Print</vt:lpstr>
      <vt:lpstr>微软雅黑</vt:lpstr>
      <vt:lpstr>Arial Unicode MS</vt:lpstr>
      <vt:lpstr>Advent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汤登辉</cp:lastModifiedBy>
  <cp:revision>2</cp:revision>
  <dcterms:created xsi:type="dcterms:W3CDTF">2026-05-02T09:17:52Z</dcterms:created>
  <dcterms:modified xsi:type="dcterms:W3CDTF">2026-05-02T09:19:50Z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21D26A8974014D9B89735D76D47DD551_12</vt:lpwstr>
  </property>
  <property fmtid="{D5CDD505-2E9C-101B-9397-08002B2CF9AE}" pid="3" name="KSOProductBuildVer">
    <vt:lpwstr>2052-12.1.0.23542</vt:lpwstr>
  </property>
</Properties>
</file>